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1" r:id="rId5"/>
    <p:sldMasterId id="2147483684" r:id="rId6"/>
    <p:sldMasterId id="2147483693" r:id="rId7"/>
  </p:sldMasterIdLst>
  <p:sldIdLst>
    <p:sldId id="27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23ADD8-112E-BDC9-1C99-680F5CC9595D}" v="2" dt="2024-02-23T14:14:53.596"/>
    <p1510:client id="{8BF59DF9-B4BF-484A-8923-145598199455}" v="2" dt="2024-02-23T14:15:37.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7" d="100"/>
          <a:sy n="77" d="100"/>
        </p:scale>
        <p:origin x="72" y="19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ags" Target="../tags/tag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Background" descr="bluemesh.jpg"/>
          <p:cNvPicPr>
            <a:picLocks noChangeAspect="1"/>
          </p:cNvPicPr>
          <p:nvPr/>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2019 The MathWorks, Inc.</a:t>
            </a:r>
          </a:p>
        </p:txBody>
      </p:sp>
      <p:cxnSp>
        <p:nvCxnSpPr>
          <p:cNvPr id="26" name="GrayLine"/>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p:nvPicPr>
        <p:blipFill>
          <a:blip r:embed="rId3" cstate="print"/>
          <a:stretch>
            <a:fillRect/>
          </a:stretch>
        </p:blipFill>
        <p:spPr>
          <a:xfrm>
            <a:off x="10330730" y="141139"/>
            <a:ext cx="1620665" cy="320591"/>
          </a:xfrm>
          <a:prstGeom prst="rect">
            <a:avLst/>
          </a:prstGeom>
          <a:noFill/>
          <a:ln>
            <a:noFill/>
          </a:ln>
        </p:spPr>
      </p:pic>
    </p:spTree>
    <p:extLst>
      <p:ext uri="{BB962C8B-B14F-4D97-AF65-F5344CB8AC3E}">
        <p14:creationId xmlns:p14="http://schemas.microsoft.com/office/powerpoint/2010/main" val="3137019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80542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extLst>
      <p:ext uri="{BB962C8B-B14F-4D97-AF65-F5344CB8AC3E}">
        <p14:creationId xmlns:p14="http://schemas.microsoft.com/office/powerpoint/2010/main" val="1283350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041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extLst>
      <p:ext uri="{BB962C8B-B14F-4D97-AF65-F5344CB8AC3E}">
        <p14:creationId xmlns:p14="http://schemas.microsoft.com/office/powerpoint/2010/main" val="301390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extLst>
      <p:ext uri="{BB962C8B-B14F-4D97-AF65-F5344CB8AC3E}">
        <p14:creationId xmlns:p14="http://schemas.microsoft.com/office/powerpoint/2010/main" val="3482159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2569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Content"/>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extLst>
      <p:ext uri="{BB962C8B-B14F-4D97-AF65-F5344CB8AC3E}">
        <p14:creationId xmlns:p14="http://schemas.microsoft.com/office/powerpoint/2010/main" val="2259147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1"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1"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10685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1"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80273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descr="bluemesh.jpg"/>
          <p:cNvPicPr>
            <a:picLocks noChangeAspect="1"/>
          </p:cNvPicPr>
          <p:nvPr/>
        </p:nvPicPr>
        <p:blipFill>
          <a:blip r:embed="rId3" cstate="print"/>
          <a:stretch>
            <a:fillRect/>
          </a:stretch>
        </p:blipFill>
        <p:spPr>
          <a:xfrm>
            <a:off x="-4067" y="1287"/>
            <a:ext cx="12209092" cy="6856713"/>
          </a:xfrm>
          <a:prstGeom prst="rect">
            <a:avLst/>
          </a:prstGeom>
        </p:spPr>
      </p:pic>
      <p:sp>
        <p:nvSpPr>
          <p:cNvPr id="21" name="Title 1"/>
          <p:cNvSpPr>
            <a:spLocks noGrp="1"/>
          </p:cNvSpPr>
          <p:nvPr>
            <p:ph type="ctrTitle"/>
          </p:nvPr>
        </p:nvSpPr>
        <p:spPr>
          <a:xfrm>
            <a:off x="914400" y="914400"/>
            <a:ext cx="10363200" cy="1828800"/>
          </a:xfrm>
        </p:spPr>
        <p:txBody>
          <a:bodyPr/>
          <a:lstStyle>
            <a:lvl1pPr algn="l">
              <a:defRPr sz="3208">
                <a:solidFill>
                  <a:schemeClr val="tx2"/>
                </a:solidFill>
              </a:defRPr>
            </a:lvl1pPr>
          </a:lstStyle>
          <a:p>
            <a:r>
              <a:rPr lang="en-US"/>
              <a:t>Click to edit Master title style</a:t>
            </a:r>
          </a:p>
        </p:txBody>
      </p:sp>
      <p:sp>
        <p:nvSpPr>
          <p:cNvPr id="22" name="Subtitle 2"/>
          <p:cNvSpPr>
            <a:spLocks noGrp="1"/>
          </p:cNvSpPr>
          <p:nvPr>
            <p:ph type="subTitle" idx="1"/>
          </p:nvPr>
        </p:nvSpPr>
        <p:spPr>
          <a:xfrm>
            <a:off x="914400" y="3203579"/>
            <a:ext cx="10363200" cy="987425"/>
          </a:xfrm>
        </p:spPr>
        <p:txBody>
          <a:bodyPr>
            <a:normAutofit/>
          </a:bodyPr>
          <a:lstStyle>
            <a:lvl1pPr marL="0" indent="0" algn="l">
              <a:buNone/>
              <a:defRPr sz="1604" b="1">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TextBox 22"/>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2019 The MathWorks, Inc.</a:t>
            </a:r>
          </a:p>
        </p:txBody>
      </p:sp>
      <p:cxnSp>
        <p:nvCxnSpPr>
          <p:cNvPr id="26" name="Straight Connector 25"/>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Picture 8" descr="09_MW_logo_CMYK_REV.png"/>
          <p:cNvPicPr>
            <a:picLocks noChangeAspect="1"/>
          </p:cNvPicPr>
          <p:nvPr/>
        </p:nvPicPr>
        <p:blipFill>
          <a:blip r:embed="rId4" cstate="print"/>
          <a:stretch>
            <a:fillRect/>
          </a:stretch>
        </p:blipFill>
        <p:spPr>
          <a:xfrm>
            <a:off x="10330730" y="141139"/>
            <a:ext cx="1620665" cy="320591"/>
          </a:xfrm>
          <a:prstGeom prst="rect">
            <a:avLst/>
          </a:prstGeom>
          <a:noFill/>
          <a:ln>
            <a:noFill/>
          </a:ln>
        </p:spPr>
      </p:pic>
      <p:sp>
        <p:nvSpPr>
          <p:cNvPr id="10" name="TextBox 9">
            <a:extLst>
              <a:ext uri="{FF2B5EF4-FFF2-40B4-BE49-F238E27FC236}">
                <a16:creationId xmlns:a16="http://schemas.microsoft.com/office/drawing/2014/main" id="{7B1934EA-3018-4E4E-88AB-B4AB34B1132C}"/>
              </a:ext>
            </a:extLst>
          </p:cNvPr>
          <p:cNvSpPr txBox="1"/>
          <p:nvPr/>
        </p:nvSpPr>
        <p:spPr>
          <a:xfrm>
            <a:off x="-4067" y="6455419"/>
            <a:ext cx="2933700" cy="369332"/>
          </a:xfrm>
          <a:prstGeom prst="rect">
            <a:avLst/>
          </a:prstGeom>
          <a:noFill/>
        </p:spPr>
        <p:txBody>
          <a:bodyPr wrap="square" rtlCol="0">
            <a:spAutoFit/>
          </a:bodyPr>
          <a:lstStyle/>
          <a:p>
            <a:pPr algn="ctr"/>
            <a:r>
              <a:rPr lang="en-US" sz="1800">
                <a:solidFill>
                  <a:schemeClr val="bg1"/>
                </a:solidFill>
                <a:latin typeface="Arial" pitchFamily="34" charset="0"/>
                <a:cs typeface="Arial" pitchFamily="34" charset="0"/>
              </a:rPr>
              <a:t>MathWorks Confidential</a:t>
            </a:r>
          </a:p>
        </p:txBody>
      </p:sp>
    </p:spTree>
    <p:custDataLst>
      <p:tags r:id="rId1"/>
    </p:custDataLst>
    <p:extLst>
      <p:ext uri="{BB962C8B-B14F-4D97-AF65-F5344CB8AC3E}">
        <p14:creationId xmlns:p14="http://schemas.microsoft.com/office/powerpoint/2010/main" val="1921539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lvl1pPr>
              <a:defRPr sz="2807" b="0" baseline="0">
                <a:solidFill>
                  <a:schemeClr val="tx2"/>
                </a:solidFill>
              </a:defRPr>
            </a:lvl1pPr>
          </a:lstStyle>
          <a:p>
            <a:r>
              <a:rPr lang="en-US"/>
              <a:t>Click to edit Master title style</a:t>
            </a:r>
          </a:p>
        </p:txBody>
      </p:sp>
      <p:sp>
        <p:nvSpPr>
          <p:cNvPr id="3" name="Content Placeholder 2"/>
          <p:cNvSpPr>
            <a:spLocks noGrp="1"/>
          </p:cNvSpPr>
          <p:nvPr>
            <p:ph idx="1"/>
          </p:nvPr>
        </p:nvSpPr>
        <p:spPr>
          <a:xfrm>
            <a:off x="609602" y="1600200"/>
            <a:ext cx="10769600" cy="4648200"/>
          </a:xfrm>
        </p:spPr>
        <p:txBody>
          <a:bodyPr/>
          <a:lstStyle>
            <a:lvl1pPr>
              <a:buSzPct val="75000"/>
              <a:defRPr sz="2406"/>
            </a:lvl1pPr>
            <a:lvl2pPr>
              <a:lnSpc>
                <a:spcPct val="105000"/>
              </a:lnSpc>
              <a:defRPr sz="2005"/>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
        <p:nvSpPr>
          <p:cNvPr id="6" name="TextBox 5">
            <a:extLst>
              <a:ext uri="{FF2B5EF4-FFF2-40B4-BE49-F238E27FC236}">
                <a16:creationId xmlns:a16="http://schemas.microsoft.com/office/drawing/2014/main" id="{BD6AE702-0BC0-4D9C-9D7B-246498982AF9}"/>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2025843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p>
            <a:r>
              <a:rPr lang="en-US"/>
              <a:t>Click to edit Master title style</a:t>
            </a:r>
          </a:p>
        </p:txBody>
      </p:sp>
      <p:sp>
        <p:nvSpPr>
          <p:cNvPr id="4" name="TextBox 3">
            <a:extLst>
              <a:ext uri="{FF2B5EF4-FFF2-40B4-BE49-F238E27FC236}">
                <a16:creationId xmlns:a16="http://schemas.microsoft.com/office/drawing/2014/main" id="{2932F1FA-CD8A-4C15-B2D0-165B0656FA1A}"/>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3658276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477A8A-CB0B-48D9-A9F8-67203F3E6F19}"/>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1645660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1"/>
          <p:cNvSpPr>
            <a:spLocks noGrp="1"/>
          </p:cNvSpPr>
          <p:nvPr>
            <p:ph type="title"/>
          </p:nvPr>
        </p:nvSpPr>
        <p:spPr>
          <a:xfrm>
            <a:off x="609600" y="457200"/>
            <a:ext cx="9448800" cy="990600"/>
          </a:xfrm>
        </p:spPr>
        <p:txBody>
          <a:bodyPr anchor="t" anchorCtr="0"/>
          <a:lstStyle>
            <a:lvl1pPr algn="l">
              <a:defRPr sz="2807" b="1">
                <a:solidFill>
                  <a:schemeClr val="tx2"/>
                </a:solidFill>
              </a:defRPr>
            </a:lvl1pPr>
          </a:lstStyle>
          <a:p>
            <a:r>
              <a:rPr lang="en-US"/>
              <a:t>Click to edit Master title style</a:t>
            </a:r>
          </a:p>
        </p:txBody>
      </p:sp>
      <p:sp>
        <p:nvSpPr>
          <p:cNvPr id="11" name="Content Placeholder 2"/>
          <p:cNvSpPr>
            <a:spLocks noGrp="1"/>
          </p:cNvSpPr>
          <p:nvPr>
            <p:ph sz="half" idx="10" hasCustomPrompt="1"/>
          </p:nvPr>
        </p:nvSpPr>
        <p:spPr>
          <a:xfrm>
            <a:off x="609601" y="2819400"/>
            <a:ext cx="5080001" cy="3200400"/>
          </a:xfrm>
        </p:spPr>
        <p:txBody>
          <a:bodyPr/>
          <a:lstStyle>
            <a:lvl1pPr>
              <a:buClr>
                <a:srgbClr val="125687"/>
              </a:buClr>
              <a:buSzTx/>
              <a:defRPr sz="1805"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Text Placeholder 11"/>
          <p:cNvSpPr>
            <a:spLocks noGrp="1"/>
          </p:cNvSpPr>
          <p:nvPr>
            <p:ph type="body" sz="quarter" idx="11" hasCustomPrompt="1"/>
          </p:nvPr>
        </p:nvSpPr>
        <p:spPr>
          <a:xfrm>
            <a:off x="609601" y="1600200"/>
            <a:ext cx="5080001" cy="838200"/>
          </a:xfrm>
        </p:spPr>
        <p:txBody>
          <a:bodyPr anchor="t"/>
          <a:lstStyle>
            <a:lvl1pPr marL="0" indent="0" algn="l">
              <a:buNone/>
              <a:defRPr sz="2005" b="1" baseline="0"/>
            </a:lvl1pPr>
          </a:lstStyle>
          <a:p>
            <a:pPr lvl="0"/>
            <a:r>
              <a:rPr lang="en-US"/>
              <a:t>Click to add headline</a:t>
            </a:r>
            <a:r>
              <a:rPr lang="en-US" sz="2005" b="1">
                <a:solidFill>
                  <a:prstClr val="black"/>
                </a:solidFill>
              </a:rPr>
              <a:t> providing value of feature</a:t>
            </a:r>
            <a:endParaRPr lang="en-US"/>
          </a:p>
        </p:txBody>
      </p:sp>
      <p:sp>
        <p:nvSpPr>
          <p:cNvPr id="14" name="Text Placeholder 2"/>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
        <p:nvSpPr>
          <p:cNvPr id="7" name="TextBox 6">
            <a:extLst>
              <a:ext uri="{FF2B5EF4-FFF2-40B4-BE49-F238E27FC236}">
                <a16:creationId xmlns:a16="http://schemas.microsoft.com/office/drawing/2014/main" id="{A919A3ED-9BB8-4BC4-89A0-345D3069F276}"/>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3097078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1914529"/>
            <a:ext cx="10363200" cy="1362075"/>
          </a:xfrm>
        </p:spPr>
        <p:txBody>
          <a:bodyPr anchor="t"/>
          <a:lstStyle>
            <a:lvl1pPr algn="ctr">
              <a:defRPr sz="3208" b="1" cap="none">
                <a:solidFill>
                  <a:schemeClr val="tx2"/>
                </a:solidFill>
              </a:defRPr>
            </a:lvl1pPr>
          </a:lstStyle>
          <a:p>
            <a:r>
              <a:rPr lang="en-US"/>
              <a:t>Click to edit Section Header Title style</a:t>
            </a:r>
          </a:p>
        </p:txBody>
      </p:sp>
      <p:sp>
        <p:nvSpPr>
          <p:cNvPr id="3" name="TextBox 2">
            <a:extLst>
              <a:ext uri="{FF2B5EF4-FFF2-40B4-BE49-F238E27FC236}">
                <a16:creationId xmlns:a16="http://schemas.microsoft.com/office/drawing/2014/main" id="{37DC625B-7287-4D27-A79F-16B4F63106CC}"/>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1759407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Content Placeholder 2"/>
          <p:cNvSpPr>
            <a:spLocks noGrp="1"/>
          </p:cNvSpPr>
          <p:nvPr>
            <p:ph sz="half" idx="1"/>
          </p:nvPr>
        </p:nvSpPr>
        <p:spPr>
          <a:xfrm>
            <a:off x="609602" y="1600200"/>
            <a:ext cx="5181600" cy="4648199"/>
          </a:xfrm>
        </p:spPr>
        <p:txBody>
          <a:bodyPr/>
          <a:lstStyle>
            <a:lvl1pPr>
              <a:defRPr sz="2406"/>
            </a:lvl1pPr>
            <a:lvl2pPr>
              <a:defRPr sz="2005"/>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2" y="1600200"/>
            <a:ext cx="5181600" cy="4648199"/>
          </a:xfrm>
        </p:spPr>
        <p:txBody>
          <a:bodyPr/>
          <a:lstStyle>
            <a:lvl1pPr>
              <a:defRPr sz="2406"/>
            </a:lvl1pPr>
            <a:lvl2pPr>
              <a:defRPr sz="2005"/>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5" name="TextBox 4">
            <a:extLst>
              <a:ext uri="{FF2B5EF4-FFF2-40B4-BE49-F238E27FC236}">
                <a16:creationId xmlns:a16="http://schemas.microsoft.com/office/drawing/2014/main" id="{46F3D92B-1804-48D9-B4BC-2619AF33FC18}"/>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24264728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Text Box 15"/>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Edit</a:t>
            </a:r>
            <a:r>
              <a:rPr lang="en-US" sz="2406" baseline="0">
                <a:latin typeface="Arial" pitchFamily="34" charset="0"/>
                <a:cs typeface="Arial" pitchFamily="34" charset="0"/>
              </a:rPr>
              <a:t> in Slide Master view to e</a:t>
            </a:r>
            <a:r>
              <a:rPr lang="en-US" sz="2406">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Bullet</a:t>
            </a:r>
            <a:r>
              <a:rPr lang="en-US" sz="2406"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6"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6">
              <a:latin typeface="Arial" pitchFamily="34" charset="0"/>
              <a:cs typeface="Arial" pitchFamily="34" charset="0"/>
            </a:endParaRPr>
          </a:p>
        </p:txBody>
      </p:sp>
      <p:sp>
        <p:nvSpPr>
          <p:cNvPr id="5" name="Text Box 16"/>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7" b="1">
                <a:solidFill>
                  <a:schemeClr val="tx2"/>
                </a:solidFill>
                <a:latin typeface="Arial" pitchFamily="34" charset="0"/>
                <a:cs typeface="Arial" pitchFamily="34" charset="0"/>
              </a:rPr>
              <a:t>Edit in Slide</a:t>
            </a:r>
            <a:r>
              <a:rPr lang="en-US" sz="2807" b="1" baseline="0">
                <a:solidFill>
                  <a:schemeClr val="tx2"/>
                </a:solidFill>
                <a:latin typeface="Arial" pitchFamily="34" charset="0"/>
                <a:cs typeface="Arial" pitchFamily="34" charset="0"/>
              </a:rPr>
              <a:t> Master view to e</a:t>
            </a:r>
            <a:r>
              <a:rPr lang="en-US" sz="2807" b="1">
                <a:solidFill>
                  <a:schemeClr val="tx2"/>
                </a:solidFill>
                <a:latin typeface="Arial" pitchFamily="34" charset="0"/>
                <a:cs typeface="Arial" pitchFamily="34" charset="0"/>
              </a:rPr>
              <a:t>nter agenda</a:t>
            </a:r>
            <a:r>
              <a:rPr lang="en-US" sz="2807" b="1" baseline="0">
                <a:solidFill>
                  <a:schemeClr val="tx2"/>
                </a:solidFill>
                <a:latin typeface="Arial" pitchFamily="34" charset="0"/>
                <a:cs typeface="Arial" pitchFamily="34" charset="0"/>
              </a:rPr>
              <a:t> title</a:t>
            </a:r>
            <a:endParaRPr lang="en-US" sz="2807" b="1">
              <a:solidFill>
                <a:schemeClr val="tx2"/>
              </a:solidFill>
              <a:latin typeface="Arial" pitchFamily="34" charset="0"/>
              <a:cs typeface="Arial" pitchFamily="34" charset="0"/>
            </a:endParaRPr>
          </a:p>
        </p:txBody>
      </p:sp>
      <p:sp>
        <p:nvSpPr>
          <p:cNvPr id="6" name="TextBox 5">
            <a:extLst>
              <a:ext uri="{FF2B5EF4-FFF2-40B4-BE49-F238E27FC236}">
                <a16:creationId xmlns:a16="http://schemas.microsoft.com/office/drawing/2014/main" id="{6F57AF5D-57ED-45FC-A9BE-7B2E29D508F7}"/>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4077715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Background" descr="bluemesh.jpg"/>
          <p:cNvPicPr>
            <a:picLocks noChangeAspect="1"/>
          </p:cNvPicPr>
          <p:nvPr/>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2021 The MathWorks, Inc.</a:t>
            </a:r>
          </a:p>
        </p:txBody>
      </p:sp>
      <p:cxnSp>
        <p:nvCxnSpPr>
          <p:cNvPr id="26" name="GrayLine"/>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p:nvPicPr>
        <p:blipFill>
          <a:blip r:embed="rId3" cstate="print"/>
          <a:stretch>
            <a:fillRect/>
          </a:stretch>
        </p:blipFill>
        <p:spPr>
          <a:xfrm>
            <a:off x="10330730" y="141139"/>
            <a:ext cx="1620665" cy="320591"/>
          </a:xfrm>
          <a:prstGeom prst="rect">
            <a:avLst/>
          </a:prstGeom>
          <a:noFill/>
          <a:ln>
            <a:noFill/>
          </a:ln>
        </p:spPr>
      </p:pic>
    </p:spTree>
    <p:extLst>
      <p:ext uri="{BB962C8B-B14F-4D97-AF65-F5344CB8AC3E}">
        <p14:creationId xmlns:p14="http://schemas.microsoft.com/office/powerpoint/2010/main" val="38723718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8944-A317-4EAB-8E42-62FFFC88C741}"/>
              </a:ext>
            </a:extLst>
          </p:cNvPr>
          <p:cNvSpPr>
            <a:spLocks noGrp="1"/>
          </p:cNvSpPr>
          <p:nvPr>
            <p:ph type="title"/>
          </p:nvPr>
        </p:nvSpPr>
        <p:spPr/>
        <p:txBody>
          <a:bodyPr/>
          <a:lstStyle/>
          <a:p>
            <a:r>
              <a:rPr lang="en-US"/>
              <a:t>Click to edit Master title style</a:t>
            </a:r>
          </a:p>
        </p:txBody>
      </p:sp>
      <p:sp>
        <p:nvSpPr>
          <p:cNvPr id="3" name="Content">
            <a:extLst>
              <a:ext uri="{FF2B5EF4-FFF2-40B4-BE49-F238E27FC236}">
                <a16:creationId xmlns:a16="http://schemas.microsoft.com/office/drawing/2014/main" id="{504E557F-B6E8-4F54-9753-C9753B651613}"/>
              </a:ext>
            </a:extLst>
          </p:cNvPr>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937859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56488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extLst>
      <p:ext uri="{BB962C8B-B14F-4D97-AF65-F5344CB8AC3E}">
        <p14:creationId xmlns:p14="http://schemas.microsoft.com/office/powerpoint/2010/main" val="29715346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3035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extLst>
      <p:ext uri="{BB962C8B-B14F-4D97-AF65-F5344CB8AC3E}">
        <p14:creationId xmlns:p14="http://schemas.microsoft.com/office/powerpoint/2010/main" val="11238665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extLst>
      <p:ext uri="{BB962C8B-B14F-4D97-AF65-F5344CB8AC3E}">
        <p14:creationId xmlns:p14="http://schemas.microsoft.com/office/powerpoint/2010/main" val="28814140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946455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Content"/>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513988" indent="-457200">
              <a:spcBef>
                <a:spcPts val="600"/>
              </a:spcBef>
              <a:buFont typeface="Arial" panose="020B0604020202020204" pitchFamily="34" charset="0"/>
              <a:buChar char="•"/>
            </a:pPr>
            <a:r>
              <a:rPr lang="en-US" sz="2800" b="0"/>
              <a:t>Key Takeaways</a:t>
            </a:r>
          </a:p>
          <a:p>
            <a:pPr marL="513988" indent="-457200">
              <a:spcBef>
                <a:spcPts val="600"/>
              </a:spcBef>
              <a:buFont typeface="Arial" panose="020B0604020202020204" pitchFamily="34" charset="0"/>
              <a:buChar char="•"/>
            </a:pPr>
            <a:r>
              <a:rPr lang="en-US" sz="2800" b="0" err="1"/>
              <a:t>PdM</a:t>
            </a:r>
            <a:r>
              <a:rPr lang="en-US" sz="2800" b="0"/>
              <a:t> Market Update</a:t>
            </a:r>
          </a:p>
          <a:p>
            <a:pPr marL="800735" lvl="1" indent="-342900">
              <a:spcBef>
                <a:spcPts val="600"/>
              </a:spcBef>
              <a:buFont typeface="Arial" panose="020B0604020202020204" pitchFamily="34" charset="0"/>
              <a:buChar char="•"/>
            </a:pPr>
            <a:r>
              <a:rPr lang="en-US" sz="2400" b="0"/>
              <a:t>What the Playing Field Looks Like Now</a:t>
            </a:r>
          </a:p>
          <a:p>
            <a:pPr marL="800735" lvl="1" indent="-342900">
              <a:spcBef>
                <a:spcPts val="600"/>
              </a:spcBef>
              <a:buFont typeface="Arial" panose="020B0604020202020204" pitchFamily="34" charset="0"/>
              <a:buChar char="•"/>
            </a:pPr>
            <a:r>
              <a:rPr lang="en-US" sz="2400" b="0"/>
              <a:t>What the Competition Has Been Up To</a:t>
            </a:r>
          </a:p>
          <a:p>
            <a:pPr marL="800735" lvl="1" indent="-342900">
              <a:spcBef>
                <a:spcPts val="600"/>
              </a:spcBef>
              <a:buFont typeface="Arial" panose="020B0604020202020204" pitchFamily="34" charset="0"/>
              <a:buChar char="•"/>
            </a:pPr>
            <a:r>
              <a:rPr lang="en-US" sz="2400" b="0"/>
              <a:t>What We’ve Been Up To</a:t>
            </a:r>
          </a:p>
          <a:p>
            <a:pPr marL="457200" indent="-457200">
              <a:spcBef>
                <a:spcPts val="600"/>
              </a:spcBef>
              <a:buFont typeface="Arial" panose="020B0604020202020204" pitchFamily="34" charset="0"/>
              <a:buChar char="•"/>
            </a:pPr>
            <a:r>
              <a:rPr lang="en-US" sz="2800" b="0"/>
              <a:t>Strategy Overview</a:t>
            </a:r>
          </a:p>
          <a:p>
            <a:pPr marL="457200" indent="-457200">
              <a:spcBef>
                <a:spcPts val="600"/>
              </a:spcBef>
              <a:buFont typeface="Arial" panose="020B0604020202020204" pitchFamily="34" charset="0"/>
              <a:buChar char="•"/>
            </a:pPr>
            <a:r>
              <a:rPr lang="en-US" sz="2800" b="0"/>
              <a:t>Feedback</a:t>
            </a:r>
            <a:endParaRPr lang="en-US" sz="3600" b="0"/>
          </a:p>
          <a:p>
            <a:pPr marL="342164" lvl="0" indent="-342164">
              <a:buClr>
                <a:schemeClr val="tx2"/>
              </a:buClr>
              <a:buSzPct val="75000"/>
              <a:buFont typeface="Wingdings" pitchFamily="2" charset="2"/>
              <a:buChar char="§"/>
              <a:tabLst>
                <a:tab pos="458340" algn="l"/>
              </a:tabLst>
            </a:pPr>
            <a:endParaRPr lang="en-US" sz="2400" b="0">
              <a:latin typeface="Arial" pitchFamily="34" charset="0"/>
              <a:cs typeface="Arial" pitchFamily="34" charset="0"/>
            </a:endParaRPr>
          </a:p>
        </p:txBody>
      </p:sp>
      <p:sp>
        <p:nvSpPr>
          <p:cNvPr id="5" name="Title"/>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Predictive Maintenance Toolbox LTS Agenda</a:t>
            </a:r>
          </a:p>
        </p:txBody>
      </p:sp>
    </p:spTree>
    <p:extLst>
      <p:ext uri="{BB962C8B-B14F-4D97-AF65-F5344CB8AC3E}">
        <p14:creationId xmlns:p14="http://schemas.microsoft.com/office/powerpoint/2010/main" val="3474804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1.png"/><Relationship Id="rId4" Type="http://schemas.openxmlformats.org/officeDocument/2006/relationships/slideLayout" Target="../slideLayouts/slideLayout1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image" Target="../media/image1.png"/><Relationship Id="rId5" Type="http://schemas.openxmlformats.org/officeDocument/2006/relationships/slideLayout" Target="../slideLayouts/slideLayout23.xml"/><Relationship Id="rId10" Type="http://schemas.openxmlformats.org/officeDocument/2006/relationships/theme" Target="../theme/theme4.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4123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1"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2"/>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sp>
        <p:nvSpPr>
          <p:cNvPr id="10" name="Confidential"/>
          <p:cNvSpPr txBox="1"/>
          <p:nvPr/>
        </p:nvSpPr>
        <p:spPr>
          <a:xfrm>
            <a:off x="8809221" y="6538212"/>
            <a:ext cx="2946400" cy="276999"/>
          </a:xfrm>
          <a:prstGeom prst="rect">
            <a:avLst/>
          </a:prstGeom>
          <a:noFill/>
        </p:spPr>
        <p:txBody>
          <a:bodyPr wrap="square" rtlCol="0">
            <a:spAutoFit/>
          </a:bodyPr>
          <a:lstStyle/>
          <a:p>
            <a:pPr algn="r"/>
            <a:r>
              <a:rPr lang="en-US" sz="1203" b="0" spc="120" baseline="0">
                <a:solidFill>
                  <a:schemeClr val="bg1">
                    <a:lumMod val="50000"/>
                  </a:schemeClr>
                </a:solidFill>
                <a:latin typeface="Arial" pitchFamily="34" charset="0"/>
                <a:cs typeface="Arial" pitchFamily="34" charset="0"/>
              </a:rPr>
              <a:t>CONFIDENTIAL</a:t>
            </a:r>
            <a:r>
              <a:rPr lang="en-US" sz="1203" b="0" spc="100" baseline="0">
                <a:solidFill>
                  <a:schemeClr val="bg1">
                    <a:lumMod val="50000"/>
                  </a:schemeClr>
                </a:solidFill>
                <a:latin typeface="Arial" pitchFamily="34" charset="0"/>
                <a:cs typeface="Arial" pitchFamily="34" charset="0"/>
              </a:rPr>
              <a:t>  |</a:t>
            </a:r>
          </a:p>
        </p:txBody>
      </p:sp>
      <p:pic>
        <p:nvPicPr>
          <p:cNvPr id="12" name="Logo" descr="logo647.png"/>
          <p:cNvPicPr>
            <a:picLocks noChangeAspect="1"/>
          </p:cNvPicPr>
          <p:nvPr/>
        </p:nvPicPr>
        <p:blipFill>
          <a:blip r:embed="rId4" cstate="print"/>
          <a:stretch>
            <a:fillRect/>
          </a:stretch>
        </p:blipFill>
        <p:spPr>
          <a:xfrm>
            <a:off x="10679339" y="23673"/>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4920060"/>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ftr="0" dt="0"/>
  <p:txStyles>
    <p:titleStyle>
      <a:lvl1pPr algn="l" defTabSz="916686"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7" indent="-343757" algn="l" defTabSz="916686"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7" indent="-286464" algn="l" defTabSz="916686"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8" indent="-229172" algn="l" defTabSz="916686"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201" indent="-229172" algn="l" defTabSz="916686"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44" indent="-229172" algn="l" defTabSz="916686"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87"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30"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73"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916"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6" rtl="0" eaLnBrk="1" latinLnBrk="0" hangingPunct="1">
        <a:defRPr sz="1805" kern="1200">
          <a:solidFill>
            <a:schemeClr val="tx1"/>
          </a:solidFill>
          <a:latin typeface="+mn-lt"/>
          <a:ea typeface="+mn-ea"/>
          <a:cs typeface="+mn-cs"/>
        </a:defRPr>
      </a:lvl1pPr>
      <a:lvl2pPr marL="458343" algn="l" defTabSz="916686" rtl="0" eaLnBrk="1" latinLnBrk="0" hangingPunct="1">
        <a:defRPr sz="1805" kern="1200">
          <a:solidFill>
            <a:schemeClr val="tx1"/>
          </a:solidFill>
          <a:latin typeface="+mn-lt"/>
          <a:ea typeface="+mn-ea"/>
          <a:cs typeface="+mn-cs"/>
        </a:defRPr>
      </a:lvl2pPr>
      <a:lvl3pPr marL="916686" algn="l" defTabSz="916686" rtl="0" eaLnBrk="1" latinLnBrk="0" hangingPunct="1">
        <a:defRPr sz="1805" kern="1200">
          <a:solidFill>
            <a:schemeClr val="tx1"/>
          </a:solidFill>
          <a:latin typeface="+mn-lt"/>
          <a:ea typeface="+mn-ea"/>
          <a:cs typeface="+mn-cs"/>
        </a:defRPr>
      </a:lvl3pPr>
      <a:lvl4pPr marL="1375029" algn="l" defTabSz="916686" rtl="0" eaLnBrk="1" latinLnBrk="0" hangingPunct="1">
        <a:defRPr sz="1805" kern="1200">
          <a:solidFill>
            <a:schemeClr val="tx1"/>
          </a:solidFill>
          <a:latin typeface="+mn-lt"/>
          <a:ea typeface="+mn-ea"/>
          <a:cs typeface="+mn-cs"/>
        </a:defRPr>
      </a:lvl4pPr>
      <a:lvl5pPr marL="1833372" algn="l" defTabSz="916686" rtl="0" eaLnBrk="1" latinLnBrk="0" hangingPunct="1">
        <a:defRPr sz="1805" kern="1200">
          <a:solidFill>
            <a:schemeClr val="tx1"/>
          </a:solidFill>
          <a:latin typeface="+mn-lt"/>
          <a:ea typeface="+mn-ea"/>
          <a:cs typeface="+mn-cs"/>
        </a:defRPr>
      </a:lvl5pPr>
      <a:lvl6pPr marL="2291715" algn="l" defTabSz="916686" rtl="0" eaLnBrk="1" latinLnBrk="0" hangingPunct="1">
        <a:defRPr sz="1805" kern="1200">
          <a:solidFill>
            <a:schemeClr val="tx1"/>
          </a:solidFill>
          <a:latin typeface="+mn-lt"/>
          <a:ea typeface="+mn-ea"/>
          <a:cs typeface="+mn-cs"/>
        </a:defRPr>
      </a:lvl6pPr>
      <a:lvl7pPr marL="2750058" algn="l" defTabSz="916686" rtl="0" eaLnBrk="1" latinLnBrk="0" hangingPunct="1">
        <a:defRPr sz="1805" kern="1200">
          <a:solidFill>
            <a:schemeClr val="tx1"/>
          </a:solidFill>
          <a:latin typeface="+mn-lt"/>
          <a:ea typeface="+mn-ea"/>
          <a:cs typeface="+mn-cs"/>
        </a:defRPr>
      </a:lvl7pPr>
      <a:lvl8pPr marL="3208401" algn="l" defTabSz="916686" rtl="0" eaLnBrk="1" latinLnBrk="0" hangingPunct="1">
        <a:defRPr sz="1805" kern="1200">
          <a:solidFill>
            <a:schemeClr val="tx1"/>
          </a:solidFill>
          <a:latin typeface="+mn-lt"/>
          <a:ea typeface="+mn-ea"/>
          <a:cs typeface="+mn-cs"/>
        </a:defRPr>
      </a:lvl8pPr>
      <a:lvl9pPr marL="3666744" algn="l" defTabSz="916686" rtl="0" eaLnBrk="1" latinLnBrk="0" hangingPunct="1">
        <a:defRPr sz="180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Rectangle 7"/>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Picture 11"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Straight Connector 11"/>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1D551A7-51AD-48F4-A163-B9E0A087EF2B}"/>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16108048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hf hdr="0" ftr="0" dt="0"/>
  <p:txStyles>
    <p:titleStyle>
      <a:lvl1pPr algn="l" defTabSz="916680" rtl="0" eaLnBrk="1" latinLnBrk="0" hangingPunct="1">
        <a:spcBef>
          <a:spcPct val="0"/>
        </a:spcBef>
        <a:buNone/>
        <a:defRPr sz="2807" b="1"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6"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5"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1"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326447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 picture containing flying, outdoor object&#10;&#10;Description automatically generated">
            <a:extLst>
              <a:ext uri="{FF2B5EF4-FFF2-40B4-BE49-F238E27FC236}">
                <a16:creationId xmlns:a16="http://schemas.microsoft.com/office/drawing/2014/main" id="{23B172BB-1AD8-16B7-8963-C05E1892C8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6560" y="1447800"/>
            <a:ext cx="4952974" cy="433385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AF151CB-CD87-4DBA-BFB4-F112E2DAE6DD}"/>
              </a:ext>
            </a:extLst>
          </p:cNvPr>
          <p:cNvSpPr>
            <a:spLocks noGrp="1"/>
          </p:cNvSpPr>
          <p:nvPr>
            <p:ph type="title"/>
          </p:nvPr>
        </p:nvSpPr>
        <p:spPr/>
        <p:txBody>
          <a:bodyPr/>
          <a:lstStyle/>
          <a:p>
            <a:r>
              <a:rPr lang="en-US" dirty="0"/>
              <a:t>Problem Statement: Predicting Diabetes</a:t>
            </a:r>
          </a:p>
        </p:txBody>
      </p:sp>
      <p:sp>
        <p:nvSpPr>
          <p:cNvPr id="3" name="Content Placeholder 2">
            <a:extLst>
              <a:ext uri="{FF2B5EF4-FFF2-40B4-BE49-F238E27FC236}">
                <a16:creationId xmlns:a16="http://schemas.microsoft.com/office/drawing/2014/main" id="{94281756-9E6B-434F-8C7C-7B8585AD93C9}"/>
              </a:ext>
            </a:extLst>
          </p:cNvPr>
          <p:cNvSpPr>
            <a:spLocks noGrp="1"/>
          </p:cNvSpPr>
          <p:nvPr>
            <p:ph sz="half" idx="1"/>
          </p:nvPr>
        </p:nvSpPr>
        <p:spPr>
          <a:xfrm>
            <a:off x="609602" y="1447800"/>
            <a:ext cx="6156958" cy="4800599"/>
          </a:xfrm>
        </p:spPr>
        <p:txBody>
          <a:bodyPr vert="horz" lIns="91440" tIns="45720" rIns="91440" bIns="45720" rtlCol="0" anchor="t">
            <a:noAutofit/>
          </a:bodyPr>
          <a:lstStyle/>
          <a:p>
            <a:pPr marL="0" marR="0" indent="0" fontAlgn="base">
              <a:lnSpc>
                <a:spcPct val="115000"/>
              </a:lnSpc>
              <a:spcBef>
                <a:spcPts val="500"/>
              </a:spcBef>
              <a:spcAft>
                <a:spcPts val="1000"/>
              </a:spcAft>
              <a:buNone/>
            </a:pPr>
            <a:r>
              <a:rPr lang="en-US" sz="1800" dirty="0">
                <a:latin typeface="Calibri" panose="020F0502020204030204" pitchFamily="34" charset="0"/>
                <a:ea typeface="Times New Roman" panose="02020603050405020304" pitchFamily="18" charset="0"/>
                <a:cs typeface="Calibri" panose="020F0502020204030204" pitchFamily="34" charset="0"/>
              </a:rPr>
              <a:t>        </a:t>
            </a:r>
            <a:r>
              <a:rPr lang="en-US" sz="2000" dirty="0">
                <a:latin typeface="Calibri" panose="020F0502020204030204" pitchFamily="34" charset="0"/>
                <a:ea typeface="Times New Roman" panose="02020603050405020304" pitchFamily="18" charset="0"/>
                <a:cs typeface="Calibri" panose="020F0502020204030204" pitchFamily="34" charset="0"/>
              </a:rPr>
              <a:t>When it comes to patient care in the ICU, it’s important to know if they have any conditions that may affect their treatment, but this can be difficult to acquire. They often don’t have access to a patient’s medical history, and a</a:t>
            </a:r>
            <a:r>
              <a:rPr lang="en-US" sz="2000" dirty="0">
                <a:effectLst/>
                <a:latin typeface="Calibri" panose="020F0502020204030204" pitchFamily="34" charset="0"/>
                <a:ea typeface="Times New Roman" panose="02020603050405020304" pitchFamily="18" charset="0"/>
                <a:cs typeface="Calibri" panose="020F0502020204030204" pitchFamily="34" charset="0"/>
              </a:rPr>
              <a:t> patient in distress or who is unresponsive may not be able to provide information about chronic conditions such as heart diseases, injuries, or diabetes</a:t>
            </a:r>
          </a:p>
          <a:p>
            <a:pPr marL="0" marR="0" indent="0" fontAlgn="base">
              <a:lnSpc>
                <a:spcPct val="115000"/>
              </a:lnSpc>
              <a:spcBef>
                <a:spcPts val="500"/>
              </a:spcBef>
              <a:spcAft>
                <a:spcPts val="1000"/>
              </a:spcAft>
              <a:buNone/>
            </a:pPr>
            <a:r>
              <a:rPr lang="en-US" sz="2000" dirty="0">
                <a:effectLst/>
                <a:latin typeface="Calibri" panose="020F0502020204030204" pitchFamily="34" charset="0"/>
                <a:ea typeface="Times New Roman" panose="02020603050405020304" pitchFamily="18" charset="0"/>
                <a:cs typeface="Calibri" panose="020F0502020204030204" pitchFamily="34" charset="0"/>
              </a:rPr>
              <a:t>        This challenge tasks participants to determine whether a patient admitted to an ICU has been diagnosed with Diabetes Mellitus using data from the first 24 hours of intensive care. Participants must make their own decisions on how they want to split and process the data, train their models, and present their findings. </a:t>
            </a:r>
            <a:endParaRPr lang="en-US" sz="2000" dirty="0">
              <a:effectLst/>
              <a:latin typeface="Calibri" panose="020F0502020204030204" pitchFamily="34" charset="0"/>
              <a:ea typeface="Yu Mincho" panose="02020400000000000000" pitchFamily="18" charset="-128"/>
              <a:cs typeface="Arial" panose="020B0604020202020204" pitchFamily="34" charset="0"/>
            </a:endParaRPr>
          </a:p>
          <a:p>
            <a:pPr marL="0" indent="0">
              <a:buNone/>
            </a:pPr>
            <a:endParaRPr lang="en-US" dirty="0"/>
          </a:p>
          <a:p>
            <a:pPr marL="343535" indent="-343535"/>
            <a:endParaRPr lang="en-US" dirty="0"/>
          </a:p>
          <a:p>
            <a:pPr marL="343535" indent="-343535"/>
            <a:endParaRPr lang="en-US" dirty="0"/>
          </a:p>
          <a:p>
            <a:pPr marL="343535" indent="-343535"/>
            <a:endParaRPr lang="en-US" dirty="0"/>
          </a:p>
        </p:txBody>
      </p:sp>
    </p:spTree>
    <p:extLst>
      <p:ext uri="{BB962C8B-B14F-4D97-AF65-F5344CB8AC3E}">
        <p14:creationId xmlns:p14="http://schemas.microsoft.com/office/powerpoint/2010/main" val="25271296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thWorks">
  <a:themeElements>
    <a:clrScheme name="TMW_PPT">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athWorks" id="{82C27CFC-63EA-448C-AE94-83AF97230EA0}" vid="{E91128D3-5B29-4EB2-9251-3330FE5AB1FB}"/>
    </a:ext>
  </a:extLst>
</a:theme>
</file>

<file path=ppt/theme/theme2.xml><?xml version="1.0" encoding="utf-8"?>
<a:theme xmlns:a="http://schemas.openxmlformats.org/drawingml/2006/main" name="MW_Confidential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confidential.potx" id="{9C3E3526-444E-4DB8-8973-12831110EE79}" vid="{2DB0E862-A40E-497D-BEAB-CD87D2D2E70D}"/>
    </a:ext>
  </a:extLst>
</a:theme>
</file>

<file path=ppt/theme/theme3.xml><?xml version="1.0" encoding="utf-8"?>
<a:theme xmlns:a="http://schemas.openxmlformats.org/drawingml/2006/main" name="1_MW_Public_widescreen">
  <a:themeElements>
    <a:clrScheme name="TMW_PPT">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Presentation1" id="{6EF67AD0-93F4-41F9-AE06-6FA3D00B2880}" vid="{49371805-32BB-4BF7-ADCB-DF8BEEA6CDD5}"/>
    </a:ext>
  </a:extLst>
</a:theme>
</file>

<file path=ppt/theme/theme4.xml><?xml version="1.0" encoding="utf-8"?>
<a:theme xmlns:a="http://schemas.openxmlformats.org/drawingml/2006/main" name="2_MW_Public_widescreen">
  <a:themeElements>
    <a:clrScheme name="MathWorks">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potx" id="{D992D7DD-CA2E-4A61-A4BF-B55048F9C1A5}" vid="{967B863E-8A48-40AC-B3D6-4F73CD95E1A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ee7129e-4925-480d-949a-39847433c3b8" xsi:nil="true"/>
    <lcf76f155ced4ddcb4097134ff3c332f xmlns="acf9abf7-c116-4b83-8cff-9672c66dcb6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8DADE9B5A202A428AD04D9209AEA083" ma:contentTypeVersion="17" ma:contentTypeDescription="Create a new document." ma:contentTypeScope="" ma:versionID="26fc5d8574b7f8351928ef07f1f16fa1">
  <xsd:schema xmlns:xsd="http://www.w3.org/2001/XMLSchema" xmlns:xs="http://www.w3.org/2001/XMLSchema" xmlns:p="http://schemas.microsoft.com/office/2006/metadata/properties" xmlns:ns2="acf9abf7-c116-4b83-8cff-9672c66dcb6b" xmlns:ns3="0ee7129e-4925-480d-949a-39847433c3b8" targetNamespace="http://schemas.microsoft.com/office/2006/metadata/properties" ma:root="true" ma:fieldsID="2aeff1c53fc3e2789aed9dc3292468f3" ns2:_="" ns3:_="">
    <xsd:import namespace="acf9abf7-c116-4b83-8cff-9672c66dcb6b"/>
    <xsd:import namespace="0ee7129e-4925-480d-949a-39847433c3b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f9abf7-c116-4b83-8cff-9672c66dc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dc2fbcc8-9673-4dab-87c4-578ccfafc19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ee7129e-4925-480d-949a-39847433c3b8"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0cfcc591-3763-4901-b236-5d61e2cd5f5b}" ma:internalName="TaxCatchAll" ma:showField="CatchAllData" ma:web="0ee7129e-4925-480d-949a-39847433c3b8">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FC0F38-D40D-4145-86E3-21DA0F6CA840}">
  <ds:schemaRefs>
    <ds:schemaRef ds:uri="http://schemas.microsoft.com/office/2006/metadata/properties"/>
    <ds:schemaRef ds:uri="http://schemas.microsoft.com/office/infopath/2007/PartnerControls"/>
    <ds:schemaRef ds:uri="0ee7129e-4925-480d-949a-39847433c3b8"/>
    <ds:schemaRef ds:uri="acf9abf7-c116-4b83-8cff-9672c66dcb6b"/>
  </ds:schemaRefs>
</ds:datastoreItem>
</file>

<file path=customXml/itemProps2.xml><?xml version="1.0" encoding="utf-8"?>
<ds:datastoreItem xmlns:ds="http://schemas.openxmlformats.org/officeDocument/2006/customXml" ds:itemID="{D911B9B7-68EF-4604-B403-9F6F82DB74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f9abf7-c116-4b83-8cff-9672c66dcb6b"/>
    <ds:schemaRef ds:uri="0ee7129e-4925-480d-949a-39847433c3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DDC7305-7069-480F-B280-6D7887348D0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MathWorks</Template>
  <TotalTime>1113</TotalTime>
  <Words>135</Words>
  <Application>Microsoft Office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vt:i4>
      </vt:variant>
    </vt:vector>
  </HeadingPairs>
  <TitlesOfParts>
    <vt:vector size="9" baseType="lpstr">
      <vt:lpstr>Arial</vt:lpstr>
      <vt:lpstr>Calibri</vt:lpstr>
      <vt:lpstr>Courier New</vt:lpstr>
      <vt:lpstr>Wingdings</vt:lpstr>
      <vt:lpstr>MathWorks</vt:lpstr>
      <vt:lpstr>MW_Confidential_widescreen</vt:lpstr>
      <vt:lpstr>1_MW_Public_widescreen</vt:lpstr>
      <vt:lpstr>2_MW_Public_widescreen</vt:lpstr>
      <vt:lpstr>Problem Statement: Predicting Diabetes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Grace Woolson</cp:lastModifiedBy>
  <cp:revision>6</cp:revision>
  <dcterms:created xsi:type="dcterms:W3CDTF">2024-02-23T14:14:13Z</dcterms:created>
  <dcterms:modified xsi:type="dcterms:W3CDTF">2025-01-16T15:57:17Z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0x01010098DADE9B5A202A428AD04D9209AEA083</vt:lpwstr>
  </property>
  <property fmtid="{D5CDD505-2E9C-101B-9397-08002B2CF9AE}" pid="3" name="MediaServiceImageTags">
    <vt:lpwstr/>
  </property>
</Properties>
</file>