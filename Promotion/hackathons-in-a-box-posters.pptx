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64" r:id="rId5"/>
    <p:sldId id="258" r:id="rId6"/>
    <p:sldId id="260" r:id="rId7"/>
    <p:sldId id="261" r:id="rId8"/>
    <p:sldId id="259" r:id="rId9"/>
    <p:sldId id="262" r:id="rId10"/>
    <p:sldId id="263" r:id="rId11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A99BBA16-5CF8-2546-A908-1387413947FC}">
          <p14:sldIdLst>
            <p14:sldId id="264"/>
          </p14:sldIdLst>
        </p14:section>
        <p14:section name="Option1" id="{77865D02-C178-BC45-8828-A5203691D3B4}">
          <p14:sldIdLst>
            <p14:sldId id="258"/>
            <p14:sldId id="260"/>
            <p14:sldId id="261"/>
          </p14:sldIdLst>
        </p14:section>
        <p14:section name="Option2" id="{001D6546-69E7-8A40-B163-367207ECA17C}">
          <p14:sldIdLst>
            <p14:sldId id="259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8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344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Woolson" userId="d66316ce-2f95-4434-a324-dd1cc6260d5c" providerId="ADAL" clId="{6AFD4280-FC04-4143-9FC2-B643095EFD55}"/>
    <pc:docChg chg="mod">
      <pc:chgData name="Grace Woolson" userId="d66316ce-2f95-4434-a324-dd1cc6260d5c" providerId="ADAL" clId="{6AFD4280-FC04-4143-9FC2-B643095EFD55}" dt="2023-09-13T17:33:06.171" v="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583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55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em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emf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emf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933C49-1A65-FF5C-47E8-F80DEA90C801}"/>
              </a:ext>
            </a:extLst>
          </p:cNvPr>
          <p:cNvSpPr/>
          <p:nvPr/>
        </p:nvSpPr>
        <p:spPr>
          <a:xfrm>
            <a:off x="1457408" y="2669134"/>
            <a:ext cx="7130002" cy="53432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Changing images:</a:t>
            </a:r>
          </a:p>
          <a:p>
            <a:pPr>
              <a:lnSpc>
                <a:spcPct val="120000"/>
              </a:lnSpc>
            </a:pPr>
            <a:endParaRPr lang="en-GB" sz="23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GB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For changing images to your own photo/logo</a:t>
            </a:r>
            <a:r>
              <a:rPr lang="en-GB" sz="2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rial"/>
                <a:cs typeface="Arial"/>
              </a:rPr>
              <a:t>• Right click image &gt; Change Picture &gt; From a file</a:t>
            </a:r>
          </a:p>
          <a:p>
            <a:pPr>
              <a:lnSpc>
                <a:spcPct val="120000"/>
              </a:lnSpc>
            </a:pPr>
            <a:endParaRPr lang="en-GB" sz="23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If it doesn’t fit properly, then: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rial"/>
                <a:cs typeface="Arial"/>
              </a:rPr>
              <a:t>• Delete image. Insert &gt; Pictures &gt; Picture from file, and then resize to fit space</a:t>
            </a:r>
          </a:p>
          <a:p>
            <a:pPr>
              <a:lnSpc>
                <a:spcPct val="120000"/>
              </a:lnSpc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GB"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For replacing QR code</a:t>
            </a:r>
            <a:r>
              <a:rPr lang="en-GB" sz="23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rial"/>
                <a:cs typeface="Arial"/>
              </a:rPr>
              <a:t>• Create new QR code with a generator and correct URL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rial"/>
                <a:cs typeface="Arial"/>
              </a:rPr>
              <a:t>• Select image &gt; Right click image &gt; Change Picture &gt; From a file</a:t>
            </a:r>
          </a:p>
          <a:p>
            <a:pPr>
              <a:lnSpc>
                <a:spcPct val="120000"/>
              </a:lnSpc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868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FD464C2-B0F3-A047-9EEE-B749F6B004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0058400" cy="1488830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6C32CA-72AA-3A44-8520-6000FCE340E4}"/>
              </a:ext>
            </a:extLst>
          </p:cNvPr>
          <p:cNvSpPr/>
          <p:nvPr/>
        </p:nvSpPr>
        <p:spPr>
          <a:xfrm>
            <a:off x="0" y="12561757"/>
            <a:ext cx="10058400" cy="2983042"/>
          </a:xfrm>
          <a:prstGeom prst="rect">
            <a:avLst/>
          </a:prstGeom>
          <a:solidFill>
            <a:srgbClr val="6A8DFF">
              <a:alpha val="824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7A3DD1-FAB8-A142-82F8-41BFB02BBD13}"/>
              </a:ext>
            </a:extLst>
          </p:cNvPr>
          <p:cNvSpPr/>
          <p:nvPr/>
        </p:nvSpPr>
        <p:spPr>
          <a:xfrm>
            <a:off x="5726287" y="13944670"/>
            <a:ext cx="4332114" cy="7928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966F4-B7E5-3044-A348-7BE644E32F56}"/>
              </a:ext>
            </a:extLst>
          </p:cNvPr>
          <p:cNvSpPr/>
          <p:nvPr/>
        </p:nvSpPr>
        <p:spPr>
          <a:xfrm>
            <a:off x="4877431" y="13750513"/>
            <a:ext cx="4701067" cy="3454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6C386C-6DAB-3943-89B4-8D845CE0F9D6}"/>
              </a:ext>
            </a:extLst>
          </p:cNvPr>
          <p:cNvSpPr/>
          <p:nvPr/>
        </p:nvSpPr>
        <p:spPr>
          <a:xfrm>
            <a:off x="5537215" y="12355413"/>
            <a:ext cx="4701067" cy="56610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0F9AA3-30A5-4046-B42C-BFA0683722E6}"/>
              </a:ext>
            </a:extLst>
          </p:cNvPr>
          <p:cNvSpPr/>
          <p:nvPr/>
        </p:nvSpPr>
        <p:spPr>
          <a:xfrm>
            <a:off x="1" y="854765"/>
            <a:ext cx="5029200" cy="795131"/>
          </a:xfrm>
          <a:prstGeom prst="rect">
            <a:avLst/>
          </a:prstGeom>
          <a:solidFill>
            <a:schemeClr val="tx1">
              <a:lumMod val="95000"/>
              <a:lumOff val="5000"/>
              <a:alpha val="4008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880EEE-4297-284D-A725-5B8F836CF53A}"/>
              </a:ext>
            </a:extLst>
          </p:cNvPr>
          <p:cNvSpPr/>
          <p:nvPr/>
        </p:nvSpPr>
        <p:spPr>
          <a:xfrm>
            <a:off x="1078728" y="7728173"/>
            <a:ext cx="4647559" cy="272100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dirty="0">
                <a:latin typeface="Arial"/>
                <a:cs typeface="Arial"/>
              </a:rPr>
              <a:t>Put your MATLAB skills to the test at </a:t>
            </a:r>
            <a:r>
              <a:rPr lang="en-GB" dirty="0">
                <a:highlight>
                  <a:srgbClr val="FFFF00"/>
                </a:highlight>
                <a:latin typeface="Arial"/>
                <a:cs typeface="Arial"/>
              </a:rPr>
              <a:t>[INSERT NAME OF HACKATHON]!</a:t>
            </a:r>
            <a:r>
              <a:rPr lang="en-GB" dirty="0">
                <a:latin typeface="Arial"/>
                <a:cs typeface="Arial"/>
              </a:rPr>
              <a:t> MATLAB is a programming language with specialized toolboxes for computer vision, deep learning, signal processing, hardware programming, and finance plus lots more. 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E39EF09-AF64-0B4D-BF59-632762C99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06" y="1074712"/>
            <a:ext cx="3234833" cy="32226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D164BC2-363A-9140-8064-A874D33410F0}"/>
              </a:ext>
            </a:extLst>
          </p:cNvPr>
          <p:cNvSpPr/>
          <p:nvPr/>
        </p:nvSpPr>
        <p:spPr>
          <a:xfrm>
            <a:off x="6615943" y="10996746"/>
            <a:ext cx="2397103" cy="239710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2081" dir="5400000" sx="100210" sy="10021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Qr code&#10;&#10;Description automatically generated">
            <a:extLst>
              <a:ext uri="{FF2B5EF4-FFF2-40B4-BE49-F238E27FC236}">
                <a16:creationId xmlns:a16="http://schemas.microsoft.com/office/drawing/2014/main" id="{F8C07F61-EB17-3449-B1D3-A502B0C25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859" y="11156551"/>
            <a:ext cx="2134140" cy="213414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A9D0E427-05D9-534D-ACCB-710EB0FF29F8}"/>
              </a:ext>
            </a:extLst>
          </p:cNvPr>
          <p:cNvSpPr/>
          <p:nvPr/>
        </p:nvSpPr>
        <p:spPr>
          <a:xfrm>
            <a:off x="12688" y="13033504"/>
            <a:ext cx="3639111" cy="566108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E6BED8-068E-454B-B186-92BE708729D7}"/>
              </a:ext>
            </a:extLst>
          </p:cNvPr>
          <p:cNvSpPr/>
          <p:nvPr/>
        </p:nvSpPr>
        <p:spPr>
          <a:xfrm>
            <a:off x="1608062" y="13867399"/>
            <a:ext cx="4458488" cy="72654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us: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[email address]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5842A2-ADDD-6847-837C-85C05931B9B9}"/>
              </a:ext>
            </a:extLst>
          </p:cNvPr>
          <p:cNvSpPr/>
          <p:nvPr/>
        </p:nvSpPr>
        <p:spPr>
          <a:xfrm>
            <a:off x="1058042" y="13372981"/>
            <a:ext cx="4246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7EAE957-232B-A041-873E-E8582AE11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06" y="13992241"/>
            <a:ext cx="365520" cy="29241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5FF9F8A-F122-114C-9221-77F98459FE30}"/>
              </a:ext>
            </a:extLst>
          </p:cNvPr>
          <p:cNvSpPr txBox="1"/>
          <p:nvPr/>
        </p:nvSpPr>
        <p:spPr>
          <a:xfrm>
            <a:off x="1294043" y="11160581"/>
            <a:ext cx="3529349" cy="34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Scan the QR code to learn more! 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C940149-BB82-3844-B7EC-55EAC14ACECE}"/>
              </a:ext>
            </a:extLst>
          </p:cNvPr>
          <p:cNvCxnSpPr>
            <a:cxnSpLocks/>
          </p:cNvCxnSpPr>
          <p:nvPr/>
        </p:nvCxnSpPr>
        <p:spPr>
          <a:xfrm flipH="1">
            <a:off x="4591878" y="11332520"/>
            <a:ext cx="202406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0DEE562A-6EF8-824D-A005-802A5CBFE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506" y="2705005"/>
            <a:ext cx="7165374" cy="2246353"/>
          </a:xfrm>
          <a:prstGeom prst="rect">
            <a:avLst/>
          </a:prstGeom>
        </p:spPr>
      </p:pic>
      <p:pic>
        <p:nvPicPr>
          <p:cNvPr id="5" name="Picture 4" descr="A picture containing flying, outdoor object&#10;&#10;Description automatically generated">
            <a:extLst>
              <a:ext uri="{FF2B5EF4-FFF2-40B4-BE49-F238E27FC236}">
                <a16:creationId xmlns:a16="http://schemas.microsoft.com/office/drawing/2014/main" id="{40442ADA-AA98-0430-FD1D-7D15EF9667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732" y="7405816"/>
            <a:ext cx="3534279" cy="309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81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FD464C2-B0F3-A047-9EEE-B749F6B004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0058400" cy="1488830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6C32CA-72AA-3A44-8520-6000FCE340E4}"/>
              </a:ext>
            </a:extLst>
          </p:cNvPr>
          <p:cNvSpPr/>
          <p:nvPr/>
        </p:nvSpPr>
        <p:spPr>
          <a:xfrm>
            <a:off x="0" y="12561757"/>
            <a:ext cx="10058400" cy="2983042"/>
          </a:xfrm>
          <a:prstGeom prst="rect">
            <a:avLst/>
          </a:prstGeom>
          <a:solidFill>
            <a:srgbClr val="6A8DFF">
              <a:alpha val="824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7A3DD1-FAB8-A142-82F8-41BFB02BBD13}"/>
              </a:ext>
            </a:extLst>
          </p:cNvPr>
          <p:cNvSpPr/>
          <p:nvPr/>
        </p:nvSpPr>
        <p:spPr>
          <a:xfrm>
            <a:off x="5726287" y="13944670"/>
            <a:ext cx="4332114" cy="7928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966F4-B7E5-3044-A348-7BE644E32F56}"/>
              </a:ext>
            </a:extLst>
          </p:cNvPr>
          <p:cNvSpPr/>
          <p:nvPr/>
        </p:nvSpPr>
        <p:spPr>
          <a:xfrm>
            <a:off x="4877431" y="13750513"/>
            <a:ext cx="4701067" cy="3454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6C386C-6DAB-3943-89B4-8D845CE0F9D6}"/>
              </a:ext>
            </a:extLst>
          </p:cNvPr>
          <p:cNvSpPr/>
          <p:nvPr/>
        </p:nvSpPr>
        <p:spPr>
          <a:xfrm>
            <a:off x="5537215" y="12355413"/>
            <a:ext cx="4701067" cy="56610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0F9AA3-30A5-4046-B42C-BFA0683722E6}"/>
              </a:ext>
            </a:extLst>
          </p:cNvPr>
          <p:cNvSpPr/>
          <p:nvPr/>
        </p:nvSpPr>
        <p:spPr>
          <a:xfrm>
            <a:off x="1" y="854765"/>
            <a:ext cx="5029200" cy="795131"/>
          </a:xfrm>
          <a:prstGeom prst="rect">
            <a:avLst/>
          </a:prstGeom>
          <a:solidFill>
            <a:schemeClr val="tx1">
              <a:lumMod val="95000"/>
              <a:lumOff val="5000"/>
              <a:alpha val="4008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E39EF09-AF64-0B4D-BF59-632762C99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06" y="1074712"/>
            <a:ext cx="3234833" cy="32226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A9D0E427-05D9-534D-ACCB-710EB0FF29F8}"/>
              </a:ext>
            </a:extLst>
          </p:cNvPr>
          <p:cNvSpPr/>
          <p:nvPr/>
        </p:nvSpPr>
        <p:spPr>
          <a:xfrm>
            <a:off x="12688" y="13033504"/>
            <a:ext cx="3639111" cy="566108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E6BED8-068E-454B-B186-92BE708729D7}"/>
              </a:ext>
            </a:extLst>
          </p:cNvPr>
          <p:cNvSpPr/>
          <p:nvPr/>
        </p:nvSpPr>
        <p:spPr>
          <a:xfrm>
            <a:off x="1608062" y="13867399"/>
            <a:ext cx="4458488" cy="72654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us: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[email address]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5842A2-ADDD-6847-837C-85C05931B9B9}"/>
              </a:ext>
            </a:extLst>
          </p:cNvPr>
          <p:cNvSpPr/>
          <p:nvPr/>
        </p:nvSpPr>
        <p:spPr>
          <a:xfrm>
            <a:off x="1058042" y="13372981"/>
            <a:ext cx="4246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7EAE957-232B-A041-873E-E8582AE11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06" y="13992241"/>
            <a:ext cx="365520" cy="29241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DEE562A-6EF8-824D-A005-802A5CBFE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06" y="2705005"/>
            <a:ext cx="7165374" cy="22463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B58F094-0605-61D3-2EC7-EE4823B21E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43732" y="7205098"/>
            <a:ext cx="3534278" cy="30924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C6ACBB-EE59-401D-97C4-1405C23F9B8E}"/>
              </a:ext>
            </a:extLst>
          </p:cNvPr>
          <p:cNvSpPr/>
          <p:nvPr/>
        </p:nvSpPr>
        <p:spPr>
          <a:xfrm>
            <a:off x="1078728" y="7728173"/>
            <a:ext cx="4647559" cy="272100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dirty="0">
                <a:latin typeface="Arial"/>
                <a:cs typeface="Arial"/>
              </a:rPr>
              <a:t>Put your MATLAB skills to the test at </a:t>
            </a:r>
            <a:r>
              <a:rPr lang="en-GB" dirty="0">
                <a:highlight>
                  <a:srgbClr val="FFFF00"/>
                </a:highlight>
                <a:latin typeface="Arial"/>
                <a:cs typeface="Arial"/>
              </a:rPr>
              <a:t>[INSERT NAME OF HACKATHON]!</a:t>
            </a:r>
            <a:r>
              <a:rPr lang="en-GB" dirty="0">
                <a:latin typeface="Arial"/>
                <a:cs typeface="Arial"/>
              </a:rPr>
              <a:t> MATLAB is a programming language with specialized toolboxes for computer vision, deep learning, signal processing, hardware programming, and finance plus lots more. 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609AA6-36BD-7B42-B523-F74C6E614D19}"/>
              </a:ext>
            </a:extLst>
          </p:cNvPr>
          <p:cNvSpPr/>
          <p:nvPr/>
        </p:nvSpPr>
        <p:spPr>
          <a:xfrm>
            <a:off x="6615943" y="10996746"/>
            <a:ext cx="2397103" cy="239710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2081" dir="5400000" sx="100210" sy="10021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46D0FB73-96E1-9B97-6272-7A3A6FD569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3859" y="11156551"/>
            <a:ext cx="2134140" cy="21341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2C56C1-051A-380D-0CA2-23942AD933AF}"/>
              </a:ext>
            </a:extLst>
          </p:cNvPr>
          <p:cNvSpPr txBox="1"/>
          <p:nvPr/>
        </p:nvSpPr>
        <p:spPr>
          <a:xfrm>
            <a:off x="1294043" y="11160581"/>
            <a:ext cx="3529349" cy="34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Scan the QR code to learn more! 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58A9DB-F710-2469-4F95-00E0D424488A}"/>
              </a:ext>
            </a:extLst>
          </p:cNvPr>
          <p:cNvCxnSpPr>
            <a:cxnSpLocks/>
          </p:cNvCxnSpPr>
          <p:nvPr/>
        </p:nvCxnSpPr>
        <p:spPr>
          <a:xfrm flipH="1">
            <a:off x="4591878" y="11332520"/>
            <a:ext cx="202406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05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FD464C2-B0F3-A047-9EEE-B749F6B004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0058400" cy="1488830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6C32CA-72AA-3A44-8520-6000FCE340E4}"/>
              </a:ext>
            </a:extLst>
          </p:cNvPr>
          <p:cNvSpPr/>
          <p:nvPr/>
        </p:nvSpPr>
        <p:spPr>
          <a:xfrm>
            <a:off x="0" y="12561757"/>
            <a:ext cx="10058400" cy="2983042"/>
          </a:xfrm>
          <a:prstGeom prst="rect">
            <a:avLst/>
          </a:prstGeom>
          <a:solidFill>
            <a:srgbClr val="6A8DFF">
              <a:alpha val="824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7A3DD1-FAB8-A142-82F8-41BFB02BBD13}"/>
              </a:ext>
            </a:extLst>
          </p:cNvPr>
          <p:cNvSpPr/>
          <p:nvPr/>
        </p:nvSpPr>
        <p:spPr>
          <a:xfrm>
            <a:off x="5726287" y="13944670"/>
            <a:ext cx="4332114" cy="7928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966F4-B7E5-3044-A348-7BE644E32F56}"/>
              </a:ext>
            </a:extLst>
          </p:cNvPr>
          <p:cNvSpPr/>
          <p:nvPr/>
        </p:nvSpPr>
        <p:spPr>
          <a:xfrm>
            <a:off x="4877431" y="13750513"/>
            <a:ext cx="4701067" cy="3454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6C386C-6DAB-3943-89B4-8D845CE0F9D6}"/>
              </a:ext>
            </a:extLst>
          </p:cNvPr>
          <p:cNvSpPr/>
          <p:nvPr/>
        </p:nvSpPr>
        <p:spPr>
          <a:xfrm>
            <a:off x="5537215" y="12355413"/>
            <a:ext cx="4701067" cy="56610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0F9AA3-30A5-4046-B42C-BFA0683722E6}"/>
              </a:ext>
            </a:extLst>
          </p:cNvPr>
          <p:cNvSpPr/>
          <p:nvPr/>
        </p:nvSpPr>
        <p:spPr>
          <a:xfrm>
            <a:off x="1" y="854765"/>
            <a:ext cx="5029200" cy="795131"/>
          </a:xfrm>
          <a:prstGeom prst="rect">
            <a:avLst/>
          </a:prstGeom>
          <a:solidFill>
            <a:schemeClr val="tx1">
              <a:lumMod val="95000"/>
              <a:lumOff val="5000"/>
              <a:alpha val="4008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E39EF09-AF64-0B4D-BF59-632762C99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06" y="1074712"/>
            <a:ext cx="3234833" cy="32226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A9D0E427-05D9-534D-ACCB-710EB0FF29F8}"/>
              </a:ext>
            </a:extLst>
          </p:cNvPr>
          <p:cNvSpPr/>
          <p:nvPr/>
        </p:nvSpPr>
        <p:spPr>
          <a:xfrm>
            <a:off x="12688" y="13033504"/>
            <a:ext cx="3639111" cy="566108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5842A2-ADDD-6847-837C-85C05931B9B9}"/>
              </a:ext>
            </a:extLst>
          </p:cNvPr>
          <p:cNvSpPr/>
          <p:nvPr/>
        </p:nvSpPr>
        <p:spPr>
          <a:xfrm>
            <a:off x="1058042" y="13372981"/>
            <a:ext cx="4246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7EAE957-232B-A041-873E-E8582AE11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06" y="13992241"/>
            <a:ext cx="365520" cy="29241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DEE562A-6EF8-824D-A005-802A5CBFE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06" y="2705005"/>
            <a:ext cx="7165374" cy="22463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427FDE1-0D1A-3D26-2F43-1D7B4030FD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43732" y="7205098"/>
            <a:ext cx="3534278" cy="30924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FE6380-F840-33E9-A9A4-6D9B42CE6F8D}"/>
              </a:ext>
            </a:extLst>
          </p:cNvPr>
          <p:cNvSpPr/>
          <p:nvPr/>
        </p:nvSpPr>
        <p:spPr>
          <a:xfrm>
            <a:off x="1608062" y="13867399"/>
            <a:ext cx="4458488" cy="72654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us: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[email address]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ABC7A-9F67-A2A3-E8C7-4071FE838B8D}"/>
              </a:ext>
            </a:extLst>
          </p:cNvPr>
          <p:cNvSpPr/>
          <p:nvPr/>
        </p:nvSpPr>
        <p:spPr>
          <a:xfrm>
            <a:off x="1078728" y="7728173"/>
            <a:ext cx="4647559" cy="272100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dirty="0">
                <a:latin typeface="Arial"/>
                <a:cs typeface="Arial"/>
              </a:rPr>
              <a:t>Put your MATLAB skills to the test at </a:t>
            </a:r>
            <a:r>
              <a:rPr lang="en-GB" dirty="0">
                <a:highlight>
                  <a:srgbClr val="FFFF00"/>
                </a:highlight>
                <a:latin typeface="Arial"/>
                <a:cs typeface="Arial"/>
              </a:rPr>
              <a:t>[INSERT NAME OF HACKATHON]!</a:t>
            </a:r>
            <a:r>
              <a:rPr lang="en-GB" dirty="0">
                <a:latin typeface="Arial"/>
                <a:cs typeface="Arial"/>
              </a:rPr>
              <a:t> MATLAB is a programming language with specialized toolboxes for computer vision, deep learning, signal processing, hardware programming, and finance plus lots more. 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BDF770-48EE-FF11-24B2-11EAEA5F35C2}"/>
              </a:ext>
            </a:extLst>
          </p:cNvPr>
          <p:cNvSpPr/>
          <p:nvPr/>
        </p:nvSpPr>
        <p:spPr>
          <a:xfrm>
            <a:off x="6615943" y="10996746"/>
            <a:ext cx="2397103" cy="239710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2081" dir="5400000" sx="100210" sy="10021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Qr code&#10;&#10;Description automatically generated">
            <a:extLst>
              <a:ext uri="{FF2B5EF4-FFF2-40B4-BE49-F238E27FC236}">
                <a16:creationId xmlns:a16="http://schemas.microsoft.com/office/drawing/2014/main" id="{1EA1CFCF-99AC-C78F-54DA-5BDB18AD0A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3859" y="11156551"/>
            <a:ext cx="2134140" cy="21341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22564D-CDBE-F0D1-DF81-C56C679F4E69}"/>
              </a:ext>
            </a:extLst>
          </p:cNvPr>
          <p:cNvSpPr txBox="1"/>
          <p:nvPr/>
        </p:nvSpPr>
        <p:spPr>
          <a:xfrm>
            <a:off x="1294043" y="11160581"/>
            <a:ext cx="3529349" cy="34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Scan the QR code to learn more! 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715D5A-2C09-5B8E-917A-CB025C5CBE71}"/>
              </a:ext>
            </a:extLst>
          </p:cNvPr>
          <p:cNvCxnSpPr>
            <a:cxnSpLocks/>
          </p:cNvCxnSpPr>
          <p:nvPr/>
        </p:nvCxnSpPr>
        <p:spPr>
          <a:xfrm flipH="1">
            <a:off x="4591878" y="11332520"/>
            <a:ext cx="202406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966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007C199-593A-FE44-86C1-7B80707558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0058400" cy="148883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79CFD79-BCF0-0943-BED5-5871FCFDC449}"/>
              </a:ext>
            </a:extLst>
          </p:cNvPr>
          <p:cNvSpPr/>
          <p:nvPr/>
        </p:nvSpPr>
        <p:spPr>
          <a:xfrm>
            <a:off x="0" y="12561757"/>
            <a:ext cx="10058400" cy="2983042"/>
          </a:xfrm>
          <a:prstGeom prst="rect">
            <a:avLst/>
          </a:prstGeom>
          <a:solidFill>
            <a:srgbClr val="6A8DFF">
              <a:alpha val="824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6D6B3E-DA7A-4F40-BCD9-C9AB0D64199F}"/>
              </a:ext>
            </a:extLst>
          </p:cNvPr>
          <p:cNvSpPr/>
          <p:nvPr/>
        </p:nvSpPr>
        <p:spPr>
          <a:xfrm>
            <a:off x="5726287" y="13944670"/>
            <a:ext cx="4332114" cy="7928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542B60-8657-8B47-AB81-C0D07199770D}"/>
              </a:ext>
            </a:extLst>
          </p:cNvPr>
          <p:cNvSpPr/>
          <p:nvPr/>
        </p:nvSpPr>
        <p:spPr>
          <a:xfrm>
            <a:off x="4877431" y="13750513"/>
            <a:ext cx="4701067" cy="3454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4B0ABB-5A63-F64C-A28C-DB1560A8F0C9}"/>
              </a:ext>
            </a:extLst>
          </p:cNvPr>
          <p:cNvSpPr/>
          <p:nvPr/>
        </p:nvSpPr>
        <p:spPr>
          <a:xfrm>
            <a:off x="5537215" y="12355413"/>
            <a:ext cx="4701067" cy="56610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11784C-6D3F-0646-9C2D-1A0A9D6C0432}"/>
              </a:ext>
            </a:extLst>
          </p:cNvPr>
          <p:cNvSpPr/>
          <p:nvPr/>
        </p:nvSpPr>
        <p:spPr>
          <a:xfrm>
            <a:off x="1" y="854765"/>
            <a:ext cx="5029200" cy="795131"/>
          </a:xfrm>
          <a:prstGeom prst="rect">
            <a:avLst/>
          </a:prstGeom>
          <a:solidFill>
            <a:schemeClr val="tx1">
              <a:lumMod val="95000"/>
              <a:lumOff val="5000"/>
              <a:alpha val="4008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989DCB-EE91-9F4E-B237-6B98E539E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06" y="1074712"/>
            <a:ext cx="3234833" cy="32226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6D6EBDA-54B0-7947-A435-69E8608936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5690" y="2725629"/>
            <a:ext cx="8427019" cy="203643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40E8DAE-2410-C147-B5E7-B2DB312F869A}"/>
              </a:ext>
            </a:extLst>
          </p:cNvPr>
          <p:cNvSpPr/>
          <p:nvPr/>
        </p:nvSpPr>
        <p:spPr>
          <a:xfrm>
            <a:off x="12688" y="13033504"/>
            <a:ext cx="3639111" cy="566108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EC0810-AF5A-F042-90BE-01849283BFCF}"/>
              </a:ext>
            </a:extLst>
          </p:cNvPr>
          <p:cNvSpPr/>
          <p:nvPr/>
        </p:nvSpPr>
        <p:spPr>
          <a:xfrm>
            <a:off x="1608062" y="13867399"/>
            <a:ext cx="4458488" cy="72654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us: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[email address]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C99BFD-0879-8D47-A176-2B5F470D7CC6}"/>
              </a:ext>
            </a:extLst>
          </p:cNvPr>
          <p:cNvSpPr/>
          <p:nvPr/>
        </p:nvSpPr>
        <p:spPr>
          <a:xfrm>
            <a:off x="1058042" y="13372981"/>
            <a:ext cx="4246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57D917-CAAD-A940-AF46-B2A0AF9D5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06" y="13992241"/>
            <a:ext cx="365520" cy="292416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092898C-1D5A-D743-9986-DB6C89C59EDF}"/>
              </a:ext>
            </a:extLst>
          </p:cNvPr>
          <p:cNvSpPr/>
          <p:nvPr/>
        </p:nvSpPr>
        <p:spPr>
          <a:xfrm>
            <a:off x="-1240039" y="14994825"/>
            <a:ext cx="3639111" cy="294656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46DC4C-0BD4-EE4E-9FB9-DCE153506B3C}"/>
              </a:ext>
            </a:extLst>
          </p:cNvPr>
          <p:cNvSpPr/>
          <p:nvPr/>
        </p:nvSpPr>
        <p:spPr>
          <a:xfrm>
            <a:off x="6690397" y="11341673"/>
            <a:ext cx="2322650" cy="23226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2081" dir="5400000" sx="100210" sy="10021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 descr="Qr code&#10;&#10;Description automatically generated">
            <a:extLst>
              <a:ext uri="{FF2B5EF4-FFF2-40B4-BE49-F238E27FC236}">
                <a16:creationId xmlns:a16="http://schemas.microsoft.com/office/drawing/2014/main" id="{0162556E-41E3-B049-B200-E5D3957C6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030" y="11496515"/>
            <a:ext cx="2067855" cy="206785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65A831E2-CC1D-A146-B837-39B4E9BC7ED8}"/>
              </a:ext>
            </a:extLst>
          </p:cNvPr>
          <p:cNvSpPr/>
          <p:nvPr/>
        </p:nvSpPr>
        <p:spPr>
          <a:xfrm>
            <a:off x="1078728" y="11482664"/>
            <a:ext cx="3798703" cy="62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Visit our GitHub repo for complimentary software and getting-started resources. 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1E42762-7844-1C4A-BEBC-4932CBB2D0FD}"/>
              </a:ext>
            </a:extLst>
          </p:cNvPr>
          <p:cNvCxnSpPr>
            <a:cxnSpLocks/>
          </p:cNvCxnSpPr>
          <p:nvPr/>
        </p:nvCxnSpPr>
        <p:spPr>
          <a:xfrm flipH="1">
            <a:off x="4872825" y="11675633"/>
            <a:ext cx="181757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flying, outdoor object&#10;&#10;Description automatically generated">
            <a:extLst>
              <a:ext uri="{FF2B5EF4-FFF2-40B4-BE49-F238E27FC236}">
                <a16:creationId xmlns:a16="http://schemas.microsoft.com/office/drawing/2014/main" id="{4E25C681-55F1-9A96-DCA1-C9631C5B08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732" y="7368324"/>
            <a:ext cx="3534279" cy="30924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F2E346-6CDF-F35C-ACFC-C1EDE0FAD51F}"/>
              </a:ext>
            </a:extLst>
          </p:cNvPr>
          <p:cNvSpPr/>
          <p:nvPr/>
        </p:nvSpPr>
        <p:spPr>
          <a:xfrm>
            <a:off x="1078728" y="7579064"/>
            <a:ext cx="4647559" cy="260167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300">
                <a:latin typeface="Arial"/>
                <a:cs typeface="Arial"/>
              </a:rPr>
              <a:t>MATLAB is a programming language with specialized toolboxes for computer vision, deep learning, signal processing, hardware programming, and finance plus lots more!</a:t>
            </a:r>
            <a:endParaRPr lang="en-US" sz="230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8131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007C199-593A-FE44-86C1-7B80707558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0058400" cy="148883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79CFD79-BCF0-0943-BED5-5871FCFDC449}"/>
              </a:ext>
            </a:extLst>
          </p:cNvPr>
          <p:cNvSpPr/>
          <p:nvPr/>
        </p:nvSpPr>
        <p:spPr>
          <a:xfrm>
            <a:off x="0" y="12561757"/>
            <a:ext cx="10058400" cy="2983042"/>
          </a:xfrm>
          <a:prstGeom prst="rect">
            <a:avLst/>
          </a:prstGeom>
          <a:solidFill>
            <a:srgbClr val="6A8DFF">
              <a:alpha val="824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6D6B3E-DA7A-4F40-BCD9-C9AB0D64199F}"/>
              </a:ext>
            </a:extLst>
          </p:cNvPr>
          <p:cNvSpPr/>
          <p:nvPr/>
        </p:nvSpPr>
        <p:spPr>
          <a:xfrm>
            <a:off x="5726287" y="13944670"/>
            <a:ext cx="4332114" cy="7928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542B60-8657-8B47-AB81-C0D07199770D}"/>
              </a:ext>
            </a:extLst>
          </p:cNvPr>
          <p:cNvSpPr/>
          <p:nvPr/>
        </p:nvSpPr>
        <p:spPr>
          <a:xfrm>
            <a:off x="4877431" y="13750513"/>
            <a:ext cx="4701067" cy="3454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4B0ABB-5A63-F64C-A28C-DB1560A8F0C9}"/>
              </a:ext>
            </a:extLst>
          </p:cNvPr>
          <p:cNvSpPr/>
          <p:nvPr/>
        </p:nvSpPr>
        <p:spPr>
          <a:xfrm>
            <a:off x="5537215" y="12355413"/>
            <a:ext cx="4701067" cy="56610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11784C-6D3F-0646-9C2D-1A0A9D6C0432}"/>
              </a:ext>
            </a:extLst>
          </p:cNvPr>
          <p:cNvSpPr/>
          <p:nvPr/>
        </p:nvSpPr>
        <p:spPr>
          <a:xfrm>
            <a:off x="1" y="854765"/>
            <a:ext cx="5029200" cy="795131"/>
          </a:xfrm>
          <a:prstGeom prst="rect">
            <a:avLst/>
          </a:prstGeom>
          <a:solidFill>
            <a:schemeClr val="tx1">
              <a:lumMod val="95000"/>
              <a:lumOff val="5000"/>
              <a:alpha val="4008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989DCB-EE91-9F4E-B237-6B98E539E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06" y="1074712"/>
            <a:ext cx="3234833" cy="32226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6D6EBDA-54B0-7947-A435-69E8608936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5690" y="2725629"/>
            <a:ext cx="8427019" cy="203643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40E8DAE-2410-C147-B5E7-B2DB312F869A}"/>
              </a:ext>
            </a:extLst>
          </p:cNvPr>
          <p:cNvSpPr/>
          <p:nvPr/>
        </p:nvSpPr>
        <p:spPr>
          <a:xfrm>
            <a:off x="12688" y="13033504"/>
            <a:ext cx="3639111" cy="566108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EC0810-AF5A-F042-90BE-01849283BFCF}"/>
              </a:ext>
            </a:extLst>
          </p:cNvPr>
          <p:cNvSpPr/>
          <p:nvPr/>
        </p:nvSpPr>
        <p:spPr>
          <a:xfrm>
            <a:off x="1608062" y="13867399"/>
            <a:ext cx="4458488" cy="72654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us: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[email address]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C99BFD-0879-8D47-A176-2B5F470D7CC6}"/>
              </a:ext>
            </a:extLst>
          </p:cNvPr>
          <p:cNvSpPr/>
          <p:nvPr/>
        </p:nvSpPr>
        <p:spPr>
          <a:xfrm>
            <a:off x="1058042" y="13372981"/>
            <a:ext cx="4246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57D917-CAAD-A940-AF46-B2A0AF9D5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06" y="13992241"/>
            <a:ext cx="365520" cy="292416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092898C-1D5A-D743-9986-DB6C89C59EDF}"/>
              </a:ext>
            </a:extLst>
          </p:cNvPr>
          <p:cNvSpPr/>
          <p:nvPr/>
        </p:nvSpPr>
        <p:spPr>
          <a:xfrm>
            <a:off x="-1240039" y="14994825"/>
            <a:ext cx="3639111" cy="294656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46DC4C-0BD4-EE4E-9FB9-DCE153506B3C}"/>
              </a:ext>
            </a:extLst>
          </p:cNvPr>
          <p:cNvSpPr/>
          <p:nvPr/>
        </p:nvSpPr>
        <p:spPr>
          <a:xfrm>
            <a:off x="6690397" y="11341672"/>
            <a:ext cx="2322650" cy="23226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2081" dir="5400000" sx="100210" sy="10021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 descr="Qr code&#10;&#10;Description automatically generated">
            <a:extLst>
              <a:ext uri="{FF2B5EF4-FFF2-40B4-BE49-F238E27FC236}">
                <a16:creationId xmlns:a16="http://schemas.microsoft.com/office/drawing/2014/main" id="{0162556E-41E3-B049-B200-E5D3957C6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030" y="11496514"/>
            <a:ext cx="2067855" cy="206785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65A831E2-CC1D-A146-B837-39B4E9BC7ED8}"/>
              </a:ext>
            </a:extLst>
          </p:cNvPr>
          <p:cNvSpPr/>
          <p:nvPr/>
        </p:nvSpPr>
        <p:spPr>
          <a:xfrm>
            <a:off x="1078728" y="11482663"/>
            <a:ext cx="3798703" cy="62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Visit our GitHub repo for complimentary software and getting-started resources. 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1E42762-7844-1C4A-BEBC-4932CBB2D0FD}"/>
              </a:ext>
            </a:extLst>
          </p:cNvPr>
          <p:cNvCxnSpPr>
            <a:cxnSpLocks/>
          </p:cNvCxnSpPr>
          <p:nvPr/>
        </p:nvCxnSpPr>
        <p:spPr>
          <a:xfrm flipH="1">
            <a:off x="4872825" y="11675632"/>
            <a:ext cx="181757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5CABB60-0B95-5BA7-5B63-4310DE25E9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43732" y="7368324"/>
            <a:ext cx="3534278" cy="30924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20AE4C-9944-0711-AD36-485C4D16EA78}"/>
              </a:ext>
            </a:extLst>
          </p:cNvPr>
          <p:cNvSpPr/>
          <p:nvPr/>
        </p:nvSpPr>
        <p:spPr>
          <a:xfrm>
            <a:off x="1078728" y="7579064"/>
            <a:ext cx="4647559" cy="260167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300">
                <a:latin typeface="Arial"/>
                <a:cs typeface="Arial"/>
              </a:rPr>
              <a:t>MATLAB is a programming language with specialized toolboxes for computer vision, deep learning, signal processing, hardware programming, and finance plus lots more!</a:t>
            </a:r>
            <a:endParaRPr lang="en-US" sz="230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0281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007C199-593A-FE44-86C1-7B80707558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0058400" cy="148883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79CFD79-BCF0-0943-BED5-5871FCFDC449}"/>
              </a:ext>
            </a:extLst>
          </p:cNvPr>
          <p:cNvSpPr/>
          <p:nvPr/>
        </p:nvSpPr>
        <p:spPr>
          <a:xfrm>
            <a:off x="0" y="12561757"/>
            <a:ext cx="10058400" cy="2983042"/>
          </a:xfrm>
          <a:prstGeom prst="rect">
            <a:avLst/>
          </a:prstGeom>
          <a:solidFill>
            <a:srgbClr val="6A8DFF">
              <a:alpha val="824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6D6B3E-DA7A-4F40-BCD9-C9AB0D64199F}"/>
              </a:ext>
            </a:extLst>
          </p:cNvPr>
          <p:cNvSpPr/>
          <p:nvPr/>
        </p:nvSpPr>
        <p:spPr>
          <a:xfrm>
            <a:off x="5726287" y="13944670"/>
            <a:ext cx="4332114" cy="7928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542B60-8657-8B47-AB81-C0D07199770D}"/>
              </a:ext>
            </a:extLst>
          </p:cNvPr>
          <p:cNvSpPr/>
          <p:nvPr/>
        </p:nvSpPr>
        <p:spPr>
          <a:xfrm>
            <a:off x="4877431" y="13750513"/>
            <a:ext cx="4701067" cy="345407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4B0ABB-5A63-F64C-A28C-DB1560A8F0C9}"/>
              </a:ext>
            </a:extLst>
          </p:cNvPr>
          <p:cNvSpPr/>
          <p:nvPr/>
        </p:nvSpPr>
        <p:spPr>
          <a:xfrm>
            <a:off x="5537215" y="12355413"/>
            <a:ext cx="4701067" cy="56610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11784C-6D3F-0646-9C2D-1A0A9D6C0432}"/>
              </a:ext>
            </a:extLst>
          </p:cNvPr>
          <p:cNvSpPr/>
          <p:nvPr/>
        </p:nvSpPr>
        <p:spPr>
          <a:xfrm>
            <a:off x="1" y="854765"/>
            <a:ext cx="5029200" cy="795131"/>
          </a:xfrm>
          <a:prstGeom prst="rect">
            <a:avLst/>
          </a:prstGeom>
          <a:solidFill>
            <a:schemeClr val="tx1">
              <a:lumMod val="95000"/>
              <a:lumOff val="5000"/>
              <a:alpha val="4008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EEB4F5-E96A-6949-BF96-B22725AC8816}"/>
              </a:ext>
            </a:extLst>
          </p:cNvPr>
          <p:cNvSpPr/>
          <p:nvPr/>
        </p:nvSpPr>
        <p:spPr>
          <a:xfrm>
            <a:off x="1078728" y="7579064"/>
            <a:ext cx="4647559" cy="260167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300">
                <a:latin typeface="Arial"/>
                <a:cs typeface="Arial"/>
              </a:rPr>
              <a:t>MATLAB is a programming language with specialized toolboxes for computer vision, deep learning, signal processing, hardware programming, and finance plus lots more!</a:t>
            </a:r>
            <a:endParaRPr lang="en-US" sz="230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989DCB-EE91-9F4E-B237-6B98E539E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06" y="1074712"/>
            <a:ext cx="3234833" cy="32226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6D6EBDA-54B0-7947-A435-69E8608936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5690" y="2725629"/>
            <a:ext cx="8427019" cy="203643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40E8DAE-2410-C147-B5E7-B2DB312F869A}"/>
              </a:ext>
            </a:extLst>
          </p:cNvPr>
          <p:cNvSpPr/>
          <p:nvPr/>
        </p:nvSpPr>
        <p:spPr>
          <a:xfrm>
            <a:off x="12688" y="13033504"/>
            <a:ext cx="3639111" cy="566108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EC0810-AF5A-F042-90BE-01849283BFCF}"/>
              </a:ext>
            </a:extLst>
          </p:cNvPr>
          <p:cNvSpPr/>
          <p:nvPr/>
        </p:nvSpPr>
        <p:spPr>
          <a:xfrm>
            <a:off x="1608062" y="13867399"/>
            <a:ext cx="4458488" cy="72654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us: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[email address]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C99BFD-0879-8D47-A176-2B5F470D7CC6}"/>
              </a:ext>
            </a:extLst>
          </p:cNvPr>
          <p:cNvSpPr/>
          <p:nvPr/>
        </p:nvSpPr>
        <p:spPr>
          <a:xfrm>
            <a:off x="1058042" y="13372981"/>
            <a:ext cx="4246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57D917-CAAD-A940-AF46-B2A0AF9D5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06" y="13992241"/>
            <a:ext cx="365520" cy="292416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092898C-1D5A-D743-9986-DB6C89C59EDF}"/>
              </a:ext>
            </a:extLst>
          </p:cNvPr>
          <p:cNvSpPr/>
          <p:nvPr/>
        </p:nvSpPr>
        <p:spPr>
          <a:xfrm>
            <a:off x="-1240039" y="14994825"/>
            <a:ext cx="3639111" cy="294656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46DC4C-0BD4-EE4E-9FB9-DCE153506B3C}"/>
              </a:ext>
            </a:extLst>
          </p:cNvPr>
          <p:cNvSpPr/>
          <p:nvPr/>
        </p:nvSpPr>
        <p:spPr>
          <a:xfrm>
            <a:off x="6690397" y="11341672"/>
            <a:ext cx="2322650" cy="23226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2081" dir="5400000" sx="100210" sy="10021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 descr="Qr code&#10;&#10;Description automatically generated">
            <a:extLst>
              <a:ext uri="{FF2B5EF4-FFF2-40B4-BE49-F238E27FC236}">
                <a16:creationId xmlns:a16="http://schemas.microsoft.com/office/drawing/2014/main" id="{0162556E-41E3-B049-B200-E5D3957C6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030" y="11496514"/>
            <a:ext cx="2067855" cy="206785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65A831E2-CC1D-A146-B837-39B4E9BC7ED8}"/>
              </a:ext>
            </a:extLst>
          </p:cNvPr>
          <p:cNvSpPr/>
          <p:nvPr/>
        </p:nvSpPr>
        <p:spPr>
          <a:xfrm>
            <a:off x="1078728" y="11482663"/>
            <a:ext cx="3798703" cy="62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500">
                <a:latin typeface="Arial" panose="020B0604020202020204" pitchFamily="34" charset="0"/>
                <a:cs typeface="Arial" panose="020B0604020202020204" pitchFamily="34" charset="0"/>
              </a:rPr>
              <a:t>Visit our GitHub repo for complimentary software and getting-started resources. </a:t>
            </a:r>
            <a:endParaRPr lang="en-US" sz="15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1E42762-7844-1C4A-BEBC-4932CBB2D0FD}"/>
              </a:ext>
            </a:extLst>
          </p:cNvPr>
          <p:cNvCxnSpPr>
            <a:cxnSpLocks/>
          </p:cNvCxnSpPr>
          <p:nvPr/>
        </p:nvCxnSpPr>
        <p:spPr>
          <a:xfrm flipH="1">
            <a:off x="4872825" y="11675632"/>
            <a:ext cx="181757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8023EF2-E731-BB41-7035-42B64DC11C6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43732" y="7368324"/>
            <a:ext cx="3534278" cy="309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16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DADE9B5A202A428AD04D9209AEA083" ma:contentTypeVersion="17" ma:contentTypeDescription="Create a new document." ma:contentTypeScope="" ma:versionID="26fc5d8574b7f8351928ef07f1f16fa1">
  <xsd:schema xmlns:xsd="http://www.w3.org/2001/XMLSchema" xmlns:xs="http://www.w3.org/2001/XMLSchema" xmlns:p="http://schemas.microsoft.com/office/2006/metadata/properties" xmlns:ns2="acf9abf7-c116-4b83-8cff-9672c66dcb6b" xmlns:ns3="0ee7129e-4925-480d-949a-39847433c3b8" targetNamespace="http://schemas.microsoft.com/office/2006/metadata/properties" ma:root="true" ma:fieldsID="2aeff1c53fc3e2789aed9dc3292468f3" ns2:_="" ns3:_="">
    <xsd:import namespace="acf9abf7-c116-4b83-8cff-9672c66dcb6b"/>
    <xsd:import namespace="0ee7129e-4925-480d-949a-39847433c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9abf7-c116-4b83-8cff-9672c66dc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7129e-4925-480d-949a-39847433c3b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cfcc591-3763-4901-b236-5d61e2cd5f5b}" ma:internalName="TaxCatchAll" ma:showField="CatchAllData" ma:web="0ee7129e-4925-480d-949a-39847433c3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7129e-4925-480d-949a-39847433c3b8" xsi:nil="true"/>
    <lcf76f155ced4ddcb4097134ff3c332f xmlns="acf9abf7-c116-4b83-8cff-9672c66dcb6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C5AAC4-1A96-4C99-B357-F686B3C15E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f9abf7-c116-4b83-8cff-9672c66dcb6b"/>
    <ds:schemaRef ds:uri="0ee7129e-4925-480d-949a-39847433c3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22C80B-954C-4D6E-A1C4-9AC6993EADA4}">
  <ds:schemaRefs>
    <ds:schemaRef ds:uri="0ee7129e-4925-480d-949a-39847433c3b8"/>
    <ds:schemaRef ds:uri="acf9abf7-c116-4b83-8cff-9672c66dcb6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C6E74F4-9B6E-4382-AD24-EAB2435CF4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395</Words>
  <Application>Microsoft Office PowerPoint</Application>
  <PresentationFormat>Custom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Jenny Xu</dc:creator>
  <cp:lastModifiedBy>Grace Woolson</cp:lastModifiedBy>
  <cp:revision>2</cp:revision>
  <dcterms:created xsi:type="dcterms:W3CDTF">2021-07-19T20:59:38Z</dcterms:created>
  <dcterms:modified xsi:type="dcterms:W3CDTF">2025-12-18T15:23:34Z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0x01010098DADE9B5A202A428AD04D9209AEA083</vt:lpwstr>
  </property>
  <property fmtid="{D5CDD505-2E9C-101B-9397-08002B2CF9AE}" pid="3" name="MediaServiceImageTags">
    <vt:lpwstr/>
  </property>
</Properties>
</file>